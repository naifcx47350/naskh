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Saudi orgs run on Arabic paperwork that AI can't read. Naskh does an honest first pass — AI extracts, the human approves. Tagline: digitize Arabic rules, ask the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pains: locked in paper/PDF, Arabic breaks generic tools, manual with no audit trail. Who: compliance/legal, government-facing orgs, document back-offices.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problem: real local backlog, Arabic underserved by AI tooling, high compliance stakes. Our three principles: Arabic-first, cited/auditable, honest human-in-the-loop first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steps: upload, extract (structured + confidence + transcription), review with source highlight, ask cited questions, export. Screenshot shows the real processed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React UI → FastAPI → OpenAI vision (structured outputs) + ChromaDB RAG. Three AI uses: typed vision extraction, grounded cited chat, coordinate-accurate source highlighting. Keys server-side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Demo order: pick a sample, show structured fields + confidence + review flag, hover a field to trigger the source highlight, ask the assistant a question and click Jump to source, then export. Gallery is offline-safe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in three phases: improve (Arabic model, accuracy, persistence), build next (batch, compare, workflows), productize (integrations, security/compliance, scale infra).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brief's own words — useful, intelligent. Recap: real problem, meaningful AI, working MVP, auditable, production vision. Invite questions and move into the live demo if not already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6263F"/>
          </a:solidFill>
          <a:ln w="15875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66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07008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نسخ · document intelligence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 Arabic rules.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</a:t>
            </a:r>
            <a:pPr indent="0" marL="0">
              <a:buNone/>
            </a:pPr>
            <a:r>
              <a:rPr lang="en-US" sz="4400" b="1" dirty="0">
                <a:solidFill>
                  <a:srgbClr val="E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58368" y="40690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human-in-the-loop AI first pass for Saudi regulatory and business documents — structured fields, editable Arabic text, and cited answers with live source highlights.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WeCloudData 2026 Hackathon</a:t>
            </a:r>
            <a:pPr indent="0" marL="0">
              <a:buNone/>
            </a:pPr>
            <a:r>
              <a:rPr lang="en-US" sz="1250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Saudi Digital Academy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6144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Naskh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1417320"/>
            <a:ext cx="4206240" cy="2368296"/>
          </a:xfrm>
          <a:prstGeom prst="roundRect">
            <a:avLst>
              <a:gd name="adj" fmla="val 3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img/r_main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206240" cy="23682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source highlighting on real Saudi documents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business runs on documents AI can't read.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6858000" cy="1207008"/>
          </a:xfrm>
          <a:prstGeom prst="roundRect">
            <a:avLst>
              <a:gd name="adj" fmla="val 6061"/>
            </a:avLst>
          </a:prstGeom>
          <a:solidFill>
            <a:srgbClr val="1B2C46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441448"/>
            <a:ext cx="603504" cy="603504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606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 paper and PDFs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783080" y="269748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circulars, contracts, MoUs and board minutes live as scans, photos, and handwritten notes — not data.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6858000" cy="1207008"/>
          </a:xfrm>
          <a:prstGeom prst="roundRect">
            <a:avLst>
              <a:gd name="adj" fmla="val 6061"/>
            </a:avLst>
          </a:prstGeom>
          <a:solidFill>
            <a:srgbClr val="1B2C46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96112" y="3813048"/>
            <a:ext cx="603504" cy="603504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breaks generic tools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783080" y="406908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text, ligatures, handwriting, and bilingual Arabic/English layouts defeat mainstream OCR and off-the-shelf AI.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892040"/>
            <a:ext cx="6858000" cy="1207008"/>
          </a:xfrm>
          <a:prstGeom prst="roundRect">
            <a:avLst>
              <a:gd name="adj" fmla="val 6061"/>
            </a:avLst>
          </a:prstGeom>
          <a:solidFill>
            <a:srgbClr val="1B2C46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6112" y="5184648"/>
            <a:ext cx="603504" cy="603504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3492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slow, no audit trail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783080" y="544068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retype and re-read by hand. Errors slip through, and there's no link back to the source for review.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772400" y="2148840"/>
            <a:ext cx="3794760" cy="4087368"/>
          </a:xfrm>
          <a:prstGeom prst="roundRect">
            <a:avLst>
              <a:gd name="adj" fmla="val 1928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04672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9077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legal teams tracking obligations and deadlines</a:t>
            </a:r>
            <a:endParaRPr lang="en-US" sz="12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931920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94192" y="3858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Government-facing organizations digitizing regulatory archives</a:t>
            </a:r>
            <a:endParaRPr lang="en-US" sz="12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95604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394192" y="488289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Back-offices converting paper records into searchable data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2030 is digital — the paperwork isn't, and it's mostly Arabic.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17320" y="22128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local backlog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9689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digitization push leaves mountains of paper and scanned records still waiting to become usable data.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4930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417320" y="351129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is underserved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389534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document-AI tooling is English-first. Arabic regulatory documents are exactly where generic solutions fall short.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7914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417320" y="48097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are high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51937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clause, deadline, or obligation carries legal and financial risk — accuracy and traceability matter.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680960" y="2194560"/>
            <a:ext cx="3886200" cy="1243584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18704" y="2496312"/>
            <a:ext cx="548640" cy="548640"/>
          </a:xfrm>
          <a:prstGeom prst="ellipse">
            <a:avLst/>
          </a:prstGeom>
          <a:solidFill>
            <a:srgbClr val="1B2C46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64261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613648" y="2414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8613648" y="27797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RTL, bilingual, and handwritten Saudi documents.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680960" y="3566160"/>
            <a:ext cx="3886200" cy="1243584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918704" y="3867912"/>
            <a:ext cx="548640" cy="548640"/>
          </a:xfrm>
          <a:prstGeom prst="ellipse">
            <a:avLst/>
          </a:prstGeom>
          <a:solidFill>
            <a:srgbClr val="1B2C46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401421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13648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&amp; auditable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613648" y="41513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and answer links back to its exact source.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680960" y="4937760"/>
            <a:ext cx="3886200" cy="1243584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18704" y="5239512"/>
            <a:ext cx="548640" cy="548640"/>
          </a:xfrm>
          <a:prstGeom prst="ellipse">
            <a:avLst/>
          </a:prstGeom>
          <a:solidFill>
            <a:srgbClr val="1B2C46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538581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613648" y="5157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first pass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8613648" y="55229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a human reviews and approves before archive.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Naskh: a guided first pass from scan to structured, cited data.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21408"/>
            <a:ext cx="548640" cy="548640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67712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103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32588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PDF or document photo — or pick a prepared sample.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4400" y="2688336"/>
            <a:ext cx="0" cy="246888"/>
          </a:xfrm>
          <a:prstGeom prst="line">
            <a:avLst/>
          </a:prstGeom>
          <a:noFill/>
          <a:ln w="19050">
            <a:solidFill>
              <a:srgbClr val="2A3D5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944368"/>
            <a:ext cx="548640" cy="548640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90672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25880" y="32186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returns structured fields, confidence, and full Arabic transcription.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14400" y="3511296"/>
            <a:ext cx="0" cy="246888"/>
          </a:xfrm>
          <a:prstGeom prst="line">
            <a:avLst/>
          </a:prstGeom>
          <a:noFill/>
          <a:ln w="19050">
            <a:solidFill>
              <a:srgbClr val="2A3D5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3767328"/>
            <a:ext cx="548640" cy="548640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913632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40416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field and the exact source region lights up for verification.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14400" y="4334256"/>
            <a:ext cx="0" cy="246888"/>
          </a:xfrm>
          <a:prstGeom prst="line">
            <a:avLst/>
          </a:prstGeom>
          <a:noFill/>
          <a:ln w="19050">
            <a:solidFill>
              <a:srgbClr val="2A3D5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4590288"/>
            <a:ext cx="548640" cy="548640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736592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325880" y="4864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 assistant answers questions grounded in the document via RAG.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14400" y="5157216"/>
            <a:ext cx="0" cy="246888"/>
          </a:xfrm>
          <a:prstGeom prst="line">
            <a:avLst/>
          </a:prstGeom>
          <a:noFill/>
          <a:ln w="19050">
            <a:solidFill>
              <a:srgbClr val="2A3D59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0080" y="5413248"/>
            <a:ext cx="548640" cy="548640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559552"/>
            <a:ext cx="246888" cy="2468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5394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1325880" y="5687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clean DOCX, JSON, or CSV for archive and downstream systems.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269480" y="2011680"/>
            <a:ext cx="4297680" cy="2679192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6" descr="img/r_process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2011680"/>
            <a:ext cx="4297680" cy="26791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69480" y="47914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fields, confidence, and review flags — with the source on the left.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pipeline — server-side AI, grounded answers.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276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UI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243687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29000" y="2276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429000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SSE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2436876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1792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217920" y="2276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Vision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217920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43687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006840" y="20574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9006840" y="2276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006840" y="2642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 RAG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0080" y="3218688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stay server-side — never in the browser.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" y="40690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1B2C46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77824" y="4306824"/>
            <a:ext cx="512064" cy="512064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44398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7824" y="491032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extraction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77824" y="5202936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Pydantic-typed structured outputs: fields, confidence, and Arabic transcription in one schema.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4306824" y="40690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1B2C46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44568" y="4306824"/>
            <a:ext cx="512064" cy="512064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443984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44568" y="491032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chat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544568" y="5202936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embeddings in ChromaDB power streaming, cited answers — not generic ChatGPT.</a:t>
            </a:r>
            <a:endParaRPr lang="en-US" sz="1080" dirty="0"/>
          </a:p>
        </p:txBody>
      </p:sp>
      <p:sp>
        <p:nvSpPr>
          <p:cNvPr id="32" name="Shape 24"/>
          <p:cNvSpPr/>
          <p:nvPr/>
        </p:nvSpPr>
        <p:spPr>
          <a:xfrm>
            <a:off x="7973568" y="40690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1B2C46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11312" y="4306824"/>
            <a:ext cx="512064" cy="512064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4443984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211312" y="491032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highlighting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211312" y="5202936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map to exact text-layer coordinates, lighting up the real region on the page.</a:t>
            </a:r>
            <a:endParaRPr lang="en-US" sz="1080" dirty="0"/>
          </a:p>
        </p:txBody>
      </p:sp>
      <p:sp>
        <p:nvSpPr>
          <p:cNvPr id="37" name="Text 28"/>
          <p:cNvSpPr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FastAPI  ·  OpenAI gpt-4o  ·  Pydantic  ·  ChromaDB  ·  pypdfium2  ·  arabic-reshaper + bidi  ·  python-docx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run it on a real Saudi document.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361188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img/r_main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3611880" cy="20299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70832" y="2057400"/>
            <a:ext cx="361188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img/r_assis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057400"/>
            <a:ext cx="3611880" cy="20299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101584" y="2057400"/>
            <a:ext cx="3456432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3" descr="img/r_preview_zo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057400"/>
            <a:ext cx="3456432" cy="20299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4206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process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40080" y="45171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or dark, a sample loads instantly — offline-safe.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370832" y="4206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assistant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370832" y="45171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question; the answer cites and jumps to source.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101584" y="420624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closely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101584" y="4517136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and pan the page to verify every detail.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40080" y="53492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914400" y="53492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sample → structured extraction with confidence → hover a field and watch the source light up → ask a cited question → export DOCX / JSON / CSV.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MVP to a real product.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459736"/>
            <a:ext cx="640080" cy="640080"/>
          </a:xfrm>
          <a:prstGeom prst="ellipse">
            <a:avLst/>
          </a:prstGeom>
          <a:solidFill>
            <a:srgbClr val="1B2C46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4261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691640" y="27523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53872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465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an Arabic handwriting model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7997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4306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extraction accuracy on dense layouts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221224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61872" y="5148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operator edits across sessions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34340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617720" y="2459736"/>
            <a:ext cx="640080" cy="640080"/>
          </a:xfrm>
          <a:prstGeom prst="ellipse">
            <a:avLst/>
          </a:prstGeom>
          <a:solidFill>
            <a:srgbClr val="1B2C46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4261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5394960" y="27523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next</a:t>
            </a:r>
            <a:endParaRPr lang="en-US" sz="1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3538728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65192" y="3465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queue digitization at volume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4379976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65192" y="4306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compare and search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4296" y="5221224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965192" y="5148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review workflows and roles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804672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6263F"/>
          </a:solidFill>
          <a:ln w="12700">
            <a:solidFill>
              <a:srgbClr val="2A3D5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8321040" y="2459736"/>
            <a:ext cx="640080" cy="640080"/>
          </a:xfrm>
          <a:prstGeom prst="ellipse">
            <a:avLst/>
          </a:prstGeom>
          <a:solidFill>
            <a:srgbClr val="1B2C46"/>
          </a:solidFill>
          <a:ln w="12700">
            <a:solidFill>
              <a:srgbClr val="CC7A45"/>
            </a:solidFill>
            <a:prstDash val="solid"/>
          </a:ln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2642616"/>
            <a:ext cx="274320" cy="27432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909828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32" name="Text 20"/>
          <p:cNvSpPr/>
          <p:nvPr/>
        </p:nvSpPr>
        <p:spPr>
          <a:xfrm>
            <a:off x="9098280" y="27523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Productize</a:t>
            </a:r>
            <a:endParaRPr lang="en-US" sz="19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616" y="3538728"/>
            <a:ext cx="219456" cy="21945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668512" y="34655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gov portals &amp; ECM</a:t>
            </a:r>
            <a:endParaRPr lang="en-US" sz="12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7616" y="4379976"/>
            <a:ext cx="219456" cy="21945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668512" y="43068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audit logs, data residency</a:t>
            </a:r>
            <a:endParaRPr lang="en-US" sz="12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7616" y="5221224"/>
            <a:ext cx="219456" cy="219456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8668512" y="5148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+ database + object storage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0448" y="1371600"/>
            <a:ext cx="822960" cy="822960"/>
          </a:xfrm>
          <a:prstGeom prst="ellipse">
            <a:avLst/>
          </a:prstGeom>
          <a:solidFill>
            <a:srgbClr val="16263F"/>
          </a:solidFill>
          <a:ln w="19050">
            <a:solidFill>
              <a:srgbClr val="CC7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159105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1460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something useful.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4E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something intelligent.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975104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Naskh solves a real Saudi problem with meaningful AI, a working MVP, a clear value story, and a realistic path to production.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66064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6064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50896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0896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AI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35728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35728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0560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056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&amp; auditable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05392" y="50749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6263F"/>
          </a:solidFill>
          <a:ln w="12700">
            <a:solidFill>
              <a:srgbClr val="CC7A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05392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vision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Naskh</a:t>
            </a:r>
            <a:pPr algn="ctr" indent="0" marL="0">
              <a:buNone/>
            </a:pPr>
            <a:r>
              <a:rPr lang="en-US" sz="1200" dirty="0">
                <a:solidFill>
                  <a:srgbClr val="81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نسخ  ·  Team Naskh  ·  WeCloudData 2026 Hackathon · SDA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Naskh — Document Intelligence</dc:title>
  <dc:subject>PptxGenJS Presentation</dc:subject>
  <dc:creator>Team Naskh</dc:creator>
  <cp:lastModifiedBy>Team Naskh</cp:lastModifiedBy>
  <cp:revision>1</cp:revision>
  <dcterms:created xsi:type="dcterms:W3CDTF">2026-06-15T16:12:38Z</dcterms:created>
  <dcterms:modified xsi:type="dcterms:W3CDTF">2026-06-15T16:12:38Z</dcterms:modified>
</cp:coreProperties>
</file>